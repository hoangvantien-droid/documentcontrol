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Quản lý &amp; Phân phối Tài liệu Điện tử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 sử dụng cho người dùng mới &amp; Kế hoạch test chức năng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852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bản 0.2.0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DCS là gì &amp; dùng để làm gì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— Tổng quan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tài liệu chất lượng từ đăng ký ban hành đến hết hiệu lực / thu hồi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mọi người luôn đọc đúng bản đang hiệu lực — không nhầm bản cũ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hành hai lớp: người đăng ký khai hồ sơ → người có thẩm quyền duyệt mới cho hiệu lực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vết đầy đủ phục vụ audit chất lượng (BRC, ISO...)</a:t>
            </a:r>
            <a:endParaRPr lang="en-US" sz="16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này hướng dẫn người dùng mới làm từng thao tác chính, kèm ảnh màn hình thật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Bảy vai trò trong hệ thống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quyết định bạn làm được gì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03504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 vai trò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Ý nghĩa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Phạm vi gán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DC_ADMIN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trị hệ thống: tổ chức, người dùng, vai trò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hệ thống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DC_AUTHOR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đăng ký tài liệu ban hành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hệ thống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DC_READER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đọc / tra cứu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hệ thống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DC_GROUP_OWNER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Duyệt tài liệu cấp Toàn Tập đoàn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DC_BU_OWNER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Duyệt tài liệu cấp Khối / Ngành hàng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cụ thể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DC_SITE_QA_MANAGER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Duyệt tài liệu cấp Nhà máy / Chi nhánh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cụ thể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DC_DEPT_HEAD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Duyệt tài liệu cấp Phòng / Ban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cụ thể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phân quyền: User → Tổ chức → Vai trò → Nhóm chức năng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bức tranh này là hiểu toàn bộ cách DCS kiểm soát ai làm được gì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9436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78308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Tập đoàn (Group)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3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DC_GROUP_OWNER duyệt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2807208"/>
            <a:ext cx="5623560" cy="914400"/>
          </a:xfrm>
          <a:prstGeom prst="rect">
            <a:avLst/>
          </a:prstGeom>
          <a:solidFill>
            <a:srgbClr val="2E54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807208"/>
            <a:ext cx="5440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/ Ngành hàng (BU)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3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DC_BU_OWNER duyệt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80160" y="3831336"/>
            <a:ext cx="5303520" cy="914400"/>
          </a:xfrm>
          <a:prstGeom prst="rect">
            <a:avLst/>
          </a:prstGeom>
          <a:solidFill>
            <a:srgbClr val="3C6C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9888" y="3831336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 máy / Chi nhánh (Site)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3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DC_SITE_QA_MANAGER duyệt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00200" y="4855464"/>
            <a:ext cx="4983480" cy="914400"/>
          </a:xfrm>
          <a:prstGeom prst="rect">
            <a:avLst/>
          </a:prstGeom>
          <a:solidFill>
            <a:srgbClr val="5B86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9928" y="4855464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/ Ban (Department)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3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DC_DEPT_HEAD duyệt · User gắn ở đây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Quyền duyệt khớp ĐÚNG cấp — không bao trùm từ trên xuống.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0" y="1783080"/>
            <a:ext cx="49377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Người dùng (User)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đăng nhập; được gắn vào một/nhiều Phòng-Ban.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Tổ chức (cây BU → Site → Department)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xác định tài liệu thuộc phạm vi nào. Site có thể phục vụ nhiều BU.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Vai trò theo phạm vi (Role @ Scope)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 cho User một vai trò tại một cấp. Vai trò duyệt phải mang đúng đối tượng (BU/Site/Dept cụ thể).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Nhóm chức năng (Functional Group)</a:t>
            </a:r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Trục CẮT NGANG tổ chức: nhóm người theo công việc (CCP, HACCP…) để phân phối tài liệu đúng người, bất kể phòng ban.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Giao diện tổng quan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điều hướng trên cùng · thực đơn theo vai trò bên trái · nội dung ở giữa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64889" y="1344168"/>
            <a:ext cx="2431741" cy="4882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</p:sp>
      <p:pic>
        <p:nvPicPr>
          <p:cNvPr id="7" name="Image 0" descr="d:/Kiro/dcs/docs/shots/de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321" y="1371600"/>
            <a:ext cx="2376877" cy="4828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21792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trưng bày các thành phần giao diện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— Quản trị: tạo user, dựng tổ chức, gán quyền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dùng: Quản trị viên (DC_ADMIN)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 tự thiết lập một người dùng mới: dựng tổ chức → tạo user → gán bộ phận → gán vai trò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cần phân phối theo công việc: lập thêm nhóm chức năng và thêm thành viên</a:t>
            </a:r>
            <a:endParaRPr lang="en-US" sz="16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ý: khi hệ thống định danh dùng chung (L1) vận hành, user sẽ đồng bộ tự động — khai tay chỉ dùng giai đoạn đầu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Dựng cây tổ chức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EAF0F8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dùng: </a:t>
            </a:r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viên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881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1. Vào "Quản trị tổ chức"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2. Thêm Ngành hàng (BU): nhập Mã BU + Tên → "Thêm BU"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3. Thêm Nhà máy (Site): nhập Mã + Tên, chọn BU → "Thêm Site" (có thể gán Site cho nhiều BU)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4. Thêm Phòng ban (Department): nhập Mã + Tên, chọn Site → "Thêm Dept"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76072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E8F3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7607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</a:t>
            </a:r>
            <a:pPr indent="0" marL="0">
              <a:buNone/>
            </a:pPr>
            <a:r>
              <a:rPr lang="en-US" sz="1300" dirty="0">
                <a:solidFill>
                  <a:srgbClr val="1E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khung tổ chức BU → Site → Department để gắn user và xác định phạm vi tài liệu.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Tạo người dùng &amp; gán bộ phận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EAF0F8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dùng: </a:t>
            </a:r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viên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881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1. Vào "Quản trị người dùng"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2. Mục "Thêm người dùng": nhập Họ tên, Email, Mật khẩu (≥ 8 ký tự) → "Tạo"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3. Ở dòng người dùng vừa tạo, chọn bộ phận trong ô "gán bộ phận" → "Gán"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4. Có thể "Ngừng" / "Bật lại" tài khoản khi cần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76072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E8F3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7607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</a:t>
            </a:r>
            <a:pPr indent="0" marL="0">
              <a:buNone/>
            </a:pPr>
            <a:r>
              <a:rPr lang="en-US" sz="1300" dirty="0">
                <a:solidFill>
                  <a:srgbClr val="1E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đăng nhập được và đã thuộc đúng Phòng/Ban — nhưng CHƯA có quyền gì ngoài đọc.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Gán vai trò theo phạm vi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EAF0F8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dùng: </a:t>
            </a:r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viên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881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1. Vào "Vai trò"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2. Mục "Gán vai trò": chọn Người dùng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3. Chọn Mã vai trò (vd DC_AUTHOR để cho đăng ký, DC_SITE_QA_MANAGER để duyệt cấp Site)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4. Chọn Cấp phạm vi; nếu là bu/site/dept thì chọn đúng BU/Site/Dept tương ứng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5. Bấm "Gán" — vai trò hiện ngay ở cột "Vai trò hiện có" dạng VAITRÒ @ cấp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76072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E8F3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7607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</a:t>
            </a:r>
            <a:pPr indent="0" marL="0">
              <a:buNone/>
            </a:pPr>
            <a:r>
              <a:rPr lang="en-US" sz="1300" dirty="0">
                <a:solidFill>
                  <a:srgbClr val="1E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có đúng quyền ở đúng phạm vi. Vai trò duyệt KHÔNG bao trùm cấp khác.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Lập nhóm chức năng &amp; thêm thành viên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EAF0F8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dùng: </a:t>
            </a:r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phê duyệt / ban hành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881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1. Vào "Nhóm chức năng"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2. Mục "Tạo nhóm chức năng": nhập Mã (vd FG-CCP-HAP), Tên công việc, chọn Người phụ trách → "Tạo"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3. Ở dòng nhóm, chọn người trong ô "+ thêm thành viên" → "Thêm"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4. Theo dõi cảnh báo "nhóm lạc hậu" khi thành viên rời tổ chức / đổi bộ phận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76072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E8F3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7607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</a:t>
            </a:r>
            <a:pPr indent="0" marL="0">
              <a:buNone/>
            </a:pPr>
            <a:r>
              <a:rPr lang="en-US" sz="1300" dirty="0">
                <a:solidFill>
                  <a:srgbClr val="1E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nhóm người theo công việc để phân phối tài liệu đúng người, cắt ngang phòng ban.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— Hướng dẫn thao tác nghiệp vụ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slide mô tả một chức năng: ai dùng, các bước làm, và kết quả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theo đúng thứ tự Bước 1, Bước 2, Bước 3 … trên màn hình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Đăng ký tài liệu ban hành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EAF0F8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dùng: </a:t>
            </a:r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đăng ký (DC_AUTHOR)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577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1. Vào "Tài liệu của tôi" → bấm "+ Đăng ký tài liệu mới"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2. Khối 1 — Số hiệu, Loại, Nguồn, Cấp phạm vi (BU/Site/Phòng-Ban thì chọn đơn vị), tải tệp PDF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3. Khối 2 — Phiên bản, tiêu đề, ngày ban hành, người phê duyệt, ngày hiệu lực (≥ hôm nay)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4. Khối 3 — Nếu thay bản cũ: chọn mức thay đổi (Lớn phải có tóm tắt); thêm ít nhất 1 nhãn liên kết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5. Bấm "Gửi đăng ký ban hành" (hoặc "Lưu nháp" để điền tiếp sau)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715000"/>
            <a:ext cx="5577840" cy="777240"/>
          </a:xfrm>
          <a:prstGeom prst="roundRect">
            <a:avLst>
              <a:gd name="adj" fmla="val 7059"/>
            </a:avLst>
          </a:prstGeom>
          <a:solidFill>
            <a:srgbClr val="E8F3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7150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</a:t>
            </a:r>
            <a:pPr indent="0" marL="0">
              <a:buNone/>
            </a:pPr>
            <a:r>
              <a:rPr lang="en-US" sz="1250" dirty="0">
                <a:solidFill>
                  <a:srgbClr val="1E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chuyển trạng thái "Chờ phê duyệt ban hành".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27931" y="1572768"/>
            <a:ext cx="3940698" cy="46085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</p:sp>
      <p:pic>
        <p:nvPicPr>
          <p:cNvPr id="11" name="Image 0" descr="d:/Kiro/dcs/docs/shots/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5363" y="1600200"/>
            <a:ext cx="3885834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0" y="617220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đăng ký — checklist bên phải nhắc trường còn thiếu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Phê duyệt &amp; ban hành (xác nhận hai lớp)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EAF0F8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dùng: </a:t>
            </a:r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phê duyệt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577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1. Vào "Chờ tôi phê duyệt" → chọn tài liệu, bấm "Xem &amp; phê duyệt"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2. Xem PDF bên trái; kiểm tra checklist TỰ ĐỘNG (hệ thống đã kiểm)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3. Nếu thay bản cũ: bấm "Xem so sánh" trước (mục 9b bị khoá tới khi xem)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4. Tích các mục TỰ ĐỐI CHIẾU rồi bấm "Xác nhận"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5. Nếu chưa đạt: nhập lý do và bấm "Trả lại người đăng ký"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715000"/>
            <a:ext cx="5577840" cy="777240"/>
          </a:xfrm>
          <a:prstGeom prst="roundRect">
            <a:avLst>
              <a:gd name="adj" fmla="val 7059"/>
            </a:avLst>
          </a:prstGeom>
          <a:solidFill>
            <a:srgbClr val="E8F3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7150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</a:t>
            </a:r>
            <a:pPr indent="0" marL="0">
              <a:buNone/>
            </a:pPr>
            <a:r>
              <a:rPr lang="en-US" sz="1250" dirty="0">
                <a:solidFill>
                  <a:srgbClr val="1E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 → "Đã duyệt, chờ hiệu lực"; đến ngày hiệu lực tự thành "Đang hiệu lực".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36608" y="1572768"/>
            <a:ext cx="5123343" cy="46085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</p:sp>
      <p:pic>
        <p:nvPicPr>
          <p:cNvPr id="11" name="Image 0" descr="d:/Kiro/dcs/docs/shots/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4040" y="1600200"/>
            <a:ext cx="5068479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0" y="617220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xác nhận: PDF trái, checklist + nút phải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Tra cứu &amp; xem chi tiết tài liệu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EAF0F8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dùng: </a:t>
            </a:r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người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577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1. Gõ từ khoá vào ô tìm trên cùng (số hiệu / tiêu đề / nội dung) — có gợi ý tức thì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2. Ở trang kết quả: lọc theo loại, bật "Bao gồm bản lịch sử" nếu cần bản cũ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3. Bấm vào một kết quả để mở trang chi tiết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4. Xem nội dung theo mục, thông tin, nhãn liên kết, phân phối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5. Chú ý cảnh báo đỏ/cam: hết hiệu lực, thu hồi, quá hạn rà soát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715000"/>
            <a:ext cx="5577840" cy="777240"/>
          </a:xfrm>
          <a:prstGeom prst="roundRect">
            <a:avLst>
              <a:gd name="adj" fmla="val 7059"/>
            </a:avLst>
          </a:prstGeom>
          <a:solidFill>
            <a:srgbClr val="E8F3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7150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</a:t>
            </a:r>
            <a:pPr indent="0" marL="0">
              <a:buNone/>
            </a:pPr>
            <a:r>
              <a:rPr lang="en-US" sz="1250" dirty="0">
                <a:solidFill>
                  <a:srgbClr val="1E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biết tài liệu còn hiệu lực không và đâu là bản đang áp dụng.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01038" y="1572768"/>
            <a:ext cx="4994484" cy="46085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</p:sp>
      <p:pic>
        <p:nvPicPr>
          <p:cNvPr id="11" name="Image 0" descr="d:/Kiro/dcs/docs/shots/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8470" y="1600200"/>
            <a:ext cx="4939620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0" y="617220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chi tiết tài liệu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So sánh phiên bản &amp; xác nhận đã đọc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EAF0F8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dùng: </a:t>
            </a:r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người / Người nhận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577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1. So sánh: ở kết quả tìm kiếm hoặc chi tiết, chọn "Xem so sánh" giữa bản cũ và mới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2. Đọc theo màu: thêm (xanh) · xoá (đỏ) · đổi (hai bên) · không đổi (thu gọn)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3. Xác nhận đọc: mở tài liệu được phân phối tới bạn, đọc nội dung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4. Bấm "Xác nhận đã đọc" ở đầu trang chi tiết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715000"/>
            <a:ext cx="5577840" cy="777240"/>
          </a:xfrm>
          <a:prstGeom prst="roundRect">
            <a:avLst>
              <a:gd name="adj" fmla="val 7059"/>
            </a:avLst>
          </a:prstGeom>
          <a:solidFill>
            <a:srgbClr val="E8F3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7150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</a:t>
            </a:r>
            <a:pPr indent="0" marL="0">
              <a:buNone/>
            </a:pPr>
            <a:r>
              <a:rPr lang="en-US" sz="1250" dirty="0">
                <a:solidFill>
                  <a:srgbClr val="1E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Thấy rõ thay đổi giữa 2 bản; hệ thống ghi nhận bạn đã đọc (thay đổi nhỏ được kế thừa).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73368" y="1952958"/>
            <a:ext cx="5449824" cy="3848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</p:sp>
      <p:pic>
        <p:nvPicPr>
          <p:cNvPr id="11" name="Image 0" descr="d:/Kiro/dcs/docs/shots/search-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980390"/>
            <a:ext cx="5394960" cy="379333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0" y="617220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tìm kiếm — nguồn vào để so sánh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In bản kiểm soát &amp; tra cứu QR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EAF0F8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dùng: </a:t>
            </a:r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phê duyệt / Mọi người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577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1. Mở tài liệu đang hiệu lực → bấm "In bản kiểm soát"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2. Bản in có lớp phủ: mã bản in, ngày in, người in, mã QR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3. Người cầm bản giấy quét QR bằng điện thoại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4. Trang công khai báo một câu: Còn hiệu lực / Hết hiệu lực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715000"/>
            <a:ext cx="5577840" cy="777240"/>
          </a:xfrm>
          <a:prstGeom prst="roundRect">
            <a:avLst>
              <a:gd name="adj" fmla="val 7059"/>
            </a:avLst>
          </a:prstGeom>
          <a:solidFill>
            <a:srgbClr val="E8F3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7150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</a:t>
            </a:r>
            <a:pPr indent="0" marL="0">
              <a:buNone/>
            </a:pPr>
            <a:r>
              <a:rPr lang="en-US" sz="1250" dirty="0">
                <a:solidFill>
                  <a:srgbClr val="1E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Tránh dùng nhầm bản in lỗi thời — quét QR biết ngay còn hiệu lực hay không.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73368" y="2374440"/>
            <a:ext cx="5449824" cy="300523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</p:sp>
      <p:pic>
        <p:nvPicPr>
          <p:cNvPr id="11" name="Image 0" descr="d:/Kiro/dcs/docs/shots/verify-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401872"/>
            <a:ext cx="5394960" cy="295036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0" y="617220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tra cứu QR công khai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Rà soát định kỳ, thu hồi, đợt ban hành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dùng: Người phê duyệt / ban hành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 soát định kỳ: vào "Rà soát định kỳ" → mỗi tài liệu đến hạn, chọn kết luận</a:t>
            </a:r>
            <a:endParaRPr lang="en-US" sz="16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nguyên / Cần sửa / Huỷ bỏ — nếu khác "Giữ nguyên" phải nhập giải trình → "Lưu kết luận rà soát"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hồi: mở chi tiết tài liệu → "Thu hồi tài liệu này" → nhập lý do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Đợt ban hành: gom 2–5 tài liệu phụ thuộc để ban hành cùng ngày, theo dõi tiến độ xác nhận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— Kế hoạch test chức năng (UAT)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code đã test — phần này nghiệm thu chức năng theo kịch bản người dùng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xác nhận các luồng nghiệp vụ chạy đúng từ góc nhìn người dùng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làm: thao tác trực tiếp trên trình duyệt, đánh dấu Đạt / Không đạt từng kịch bản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vi: 9 nhóm kịch bản (A–I) bám theo các bước hướng dẫn ở Phần 2 &amp; 3</a:t>
            </a:r>
            <a:endParaRPr lang="en-US" sz="16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lặp lại unit test / test ràng buộc CSDL (đã chạy ở khâu phát triển)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trước khi test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đã cài đặt, migrate xong, truy cập được trang đăng nhập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1 tài khoản Quản trị để tạo tổ chức, user và gán quyền ban đầu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1–2 tệp PDF mẫu để đăng ký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dữ liệu mẫu: ≥ 1 tài liệu đang hiệu lực và 1 bản hết hiệu lực</a:t>
            </a:r>
            <a:endParaRPr lang="en-US" sz="16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kịch bản ghi: Đạt / Không đạt + ghi chú lỗi (nếu có) + mức độ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A. Quản trị &amp; phân quyền</a:t>
            </a:r>
            <a:endParaRPr lang="en-US" sz="2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50976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Kịch bản → Kỳ vọng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Tạo BU/Site/Dept → cây tổ chức hiện đúng quan hệ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Tạo user + gán bộ phận → user đăng nhập được, thấy bộ phận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Gán DC_AUTHOR → user thấy "Tài liệu của tôi" và đăng ký được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Gán DC_SITE_QA_MANAGER @ Site → chỉ duyệt được tài liệu cấp Site đó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chưa gán vai trò → chỉ xem/tra cứu, không thấy mục quản trị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Lập nhóm chức năng + thêm thành viên → thành viên hiện trong nhóm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B. Đăng nhập · C. Đăng ký</a:t>
            </a:r>
            <a:endParaRPr lang="en-US" sz="2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50976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Kịch bản → Kỳ vọng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Đăng nhập đúng → trang chủ, menu theo vai trò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mật khẩu → báo lỗi, không vào được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Đăng ký đủ trường + PDF → Chờ phê duyệt ban hành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Thiếu trường bắt buộc → bị chặn, không lưu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Thay bản cũ mức lớn → bắt nhập tóm tắt thay đổi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Lưu nháp → Nháp chờ hoàn thiện, mở lại sửa được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D. Phê duyệt hai lớp · E. Vòng đời</a:t>
            </a:r>
            <a:endParaRPr lang="en-US" sz="2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50976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Kịch bản → Kỳ vọng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Mở "Xem &amp; phê duyệt" → PDF + checklist tự động &amp; tự đối chiếu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Chưa xem so sánh → mục 9b khoá; chưa tích đủ → nút duyệt khoá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Duyệt hợp lệ → Đã duyệt, chờ hiệu lực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Trả lại kèm lý do → Bị trả lại, người đăng ký thấy lý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Ngày hiệu lực đã qua → ẩn nút duyệt, chỉ còn trả về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Danh mục → trạng thái &amp; phạm vi hiện chữ tiếng Việt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Mở bản hết hiệu lực → cảnh báo đỏ + link bản đang áp dụng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hồi kèm lý do → Đã thu hồi, hiện lý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F. Phân phối &amp; đọc · G. Tìm kiếm · H. Rà soát · I. In &amp; QR</a:t>
            </a:r>
            <a:endParaRPr lang="en-US" sz="2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50976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Kịch bản → Kỳ vọng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Khai phân phối (Phòng/Ban ∩ Nhóm) → người nhận đúng; "Xác nhận đã đọc" ghi nhận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 mới thay đổi nhỏ → không bắt đọc lại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Gõ từ khoá → gợi ý tức thì; tìm nội dung → nêu mục khớp + trích đoạn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sánh 2 phiên bản → thêm/xoá/đổi/không đổi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luận rà soát "Cần sửa" → bắt nhập giải trình, lưu đúng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bản kiểm soát → lớp phủ mã, QR; quét QR → báo đúng còn/hết hiệu lực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nghiệm thu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kịch bản nhóm A–E (quản trị + luồng cốt lõi) phải Đạt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F–I đạt tối thiểu 80%; lỗi còn lại ghi nhận và phân loại mức độ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đúng: vai trò duyệt không bao trùm sai cấp phạm vi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còn mã kỹ thuật (vd hieu_luc, site) lộ ra giao diện người dùng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&amp; bước tiếp theo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viết code toàn bộ chức năng giai đoạn 0→10; build sạch; unit test &amp; test ràng buộc đã chạy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đã chuẩn hoá từ ngữ QA (phiên bản 0.2.0)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tiếp theo: triển khai lên môi trường có PostgreSQL để chạy UAT theo kế hoạch trên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DCS — Hướng dẫn sử dụng &amp; Kế hoạch test</dc:title>
  <dc:subject>PptxGenJS Presentation</dc:subject>
  <dc:creator>DCS</dc:creator>
  <cp:lastModifiedBy>DCS</cp:lastModifiedBy>
  <cp:revision>1</cp:revision>
  <dcterms:created xsi:type="dcterms:W3CDTF">2026-10-01T13:26:42Z</dcterms:created>
  <dcterms:modified xsi:type="dcterms:W3CDTF">2026-10-01T13:26:42Z</dcterms:modified>
</cp:coreProperties>
</file>